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nconsolata" pitchFamily="1" charset="0"/>
      <p:regular r:id="rId13"/>
    </p:embeddedFont>
    <p:embeddedFont>
      <p:font typeface="Montserrat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832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4055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Low-Latency EOG-Based Early Intent Detection for Eye Movements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799880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Biomedical Signal Processing &amp; Machine Learning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Technical Project Presentation</a:t>
            </a:r>
            <a:endParaRPr lang="en-US" sz="14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07D8A1-F6AC-6106-8F56-7CFE90EA4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7494" y="6305385"/>
            <a:ext cx="1934506" cy="4836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55961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Why Detect Eye Movement Before It Finishes?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3120727"/>
            <a:ext cx="5476043" cy="2081212"/>
          </a:xfrm>
          <a:prstGeom prst="roundRect">
            <a:avLst>
              <a:gd name="adj" fmla="val 366"/>
            </a:avLst>
          </a:prstGeom>
          <a:solidFill>
            <a:srgbClr val="D8BFD8"/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3309739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Latency Problem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3794026"/>
            <a:ext cx="5098029" cy="127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Optical tracking: camera delay + computation + waiting for saccade completion = </a:t>
            </a: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300+ ms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Conventional systems register command only after eye settles (200–400 ms)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330973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EOG Advantage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3794026"/>
            <a:ext cx="5203794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Detect saccade onset </a:t>
            </a: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electrically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not optically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Predict direction within </a:t>
            </a: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20–100 ms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of movement start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Immune to occlusion, lighting, and head movement</a:t>
            </a:r>
            <a:endParaRPr lang="en-US" sz="1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AFBD01-6847-918E-BCD5-8F06065A2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7494" y="6313336"/>
            <a:ext cx="1934506" cy="4836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How Does EOG Detect Eye Movement?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2226965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Eye as an Electrical Dipole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2645767"/>
            <a:ext cx="5226911" cy="1141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Cornea: </a:t>
            </a:r>
            <a:r>
              <a:rPr lang="en-US" sz="13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positive pole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(~0.4–1.0 mV)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Retina: </a:t>
            </a:r>
            <a:r>
              <a:rPr lang="en-US" sz="13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negative pole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Eye rotation → dipole rotates → electrode potentials change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3940274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Voltage–Angle Relationship</a:t>
            </a:r>
            <a:endParaRPr lang="en-US" sz="1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399756"/>
            <a:ext cx="5226911" cy="2968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4890393"/>
            <a:ext cx="522691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For small angles: </a:t>
            </a:r>
            <a:r>
              <a:rPr lang="en-US" sz="130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     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voltage is approximately proportional to eye rotation.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2084" y="4922143"/>
            <a:ext cx="720112" cy="21213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0994" y="1457424"/>
            <a:ext cx="4704141" cy="4704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1F002A-5C20-0D35-72AE-1C879C19DB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7494" y="6305385"/>
            <a:ext cx="1934506" cy="4836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3980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Dataset &amp; 16-Channel EOG Configuration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529457"/>
            <a:ext cx="108687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Dataset Overview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332474" y="1981200"/>
            <a:ext cx="4025899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14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61475" y="2599531"/>
            <a:ext cx="53678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Subjects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1475" y="2884686"/>
            <a:ext cx="53678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S1–S14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33223" y="1981200"/>
            <a:ext cx="4025998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4032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6162223" y="2599531"/>
            <a:ext cx="5367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Total Trials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162223" y="2884686"/>
            <a:ext cx="536799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288 per subject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32474" y="3366591"/>
            <a:ext cx="4025899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36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661475" y="3984923"/>
            <a:ext cx="53678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Target Directions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61475" y="4270077"/>
            <a:ext cx="53678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12° eccentricity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33223" y="3366591"/>
            <a:ext cx="4025998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256</a:t>
            </a:r>
            <a:endParaRPr lang="en-US" sz="3650" dirty="0"/>
          </a:p>
        </p:txBody>
      </p:sp>
      <p:sp>
        <p:nvSpPr>
          <p:cNvPr id="14" name="Text 12"/>
          <p:cNvSpPr/>
          <p:nvPr/>
        </p:nvSpPr>
        <p:spPr>
          <a:xfrm>
            <a:off x="6162223" y="3984923"/>
            <a:ext cx="5367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Hz Sampling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62223" y="4270077"/>
            <a:ext cx="536799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16 EOG channels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1475" y="4627959"/>
            <a:ext cx="108687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Why 16 Channels?</a:t>
            </a:r>
            <a:endParaRPr lang="en-US" sz="13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008860"/>
            <a:ext cx="5381193" cy="80506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98403" y="5169595"/>
            <a:ext cx="49835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Standard 2-Channel EOG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98403" y="5454749"/>
            <a:ext cx="498353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Poor oblique-angle resolution, vulnerable to EMG artifacts</a:t>
            </a:r>
            <a:endParaRPr lang="en-US" sz="11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8928" y="5008860"/>
            <a:ext cx="5381292" cy="805061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385857" y="5169595"/>
            <a:ext cx="49836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16-Channel Isotropic Montage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6385857" y="5454749"/>
            <a:ext cx="498363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Full 2D voltage-gradient map, 360° directional coverage</a:t>
            </a:r>
            <a:endParaRPr lang="en-US" sz="1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2C1E9A6-5FAD-245A-681B-D4F7BDDD9B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7494" y="6305385"/>
            <a:ext cx="1934506" cy="4836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69963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Signal Processing Pipeline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61475" y="1745059"/>
            <a:ext cx="10868745" cy="577255"/>
          </a:xfrm>
          <a:prstGeom prst="roundRect">
            <a:avLst>
              <a:gd name="adj" fmla="val 1320"/>
            </a:avLst>
          </a:prstGeom>
          <a:solidFill>
            <a:srgbClr val="E4E6E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06" y="1939826"/>
            <a:ext cx="200814" cy="1606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3551" y="1921669"/>
            <a:ext cx="1079562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Strict Causality:</a:t>
            </a:r>
            <a:r>
              <a:rPr lang="en-US" sz="125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No future samples used — valid for real-time deployment.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475905"/>
            <a:ext cx="3622882" cy="642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106" y="3255070"/>
            <a:ext cx="330162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Raw EOG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822106" y="3587948"/>
            <a:ext cx="33016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16 channels acquired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4357" y="2475905"/>
            <a:ext cx="3622882" cy="6426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444988" y="3255070"/>
            <a:ext cx="330162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Baseline Centering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4444988" y="3587948"/>
            <a:ext cx="33016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First 25 samples ≈ 97.6 ms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7239" y="2475905"/>
            <a:ext cx="3622882" cy="6426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67870" y="3255070"/>
            <a:ext cx="330162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High-Pass Filter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8067870" y="3587948"/>
            <a:ext cx="33016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0.1 Hz causal drift suppression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3986312"/>
            <a:ext cx="3622882" cy="6426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22106" y="4765477"/>
            <a:ext cx="330162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Z-Score Norm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822106" y="5098355"/>
            <a:ext cx="33016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Training-fold statistics only</a:t>
            </a:r>
            <a:endParaRPr lang="en-US" sz="12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4357" y="3986312"/>
            <a:ext cx="3622882" cy="64264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444988" y="4765477"/>
            <a:ext cx="330162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Onset Detection</a:t>
            </a:r>
            <a:endParaRPr lang="en-US" sz="1550" dirty="0"/>
          </a:p>
        </p:txBody>
      </p:sp>
      <p:sp>
        <p:nvSpPr>
          <p:cNvPr id="20" name="Text 12"/>
          <p:cNvSpPr/>
          <p:nvPr/>
        </p:nvSpPr>
        <p:spPr>
          <a:xfrm>
            <a:off x="4444988" y="5098355"/>
            <a:ext cx="33016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→ Window → Features → Class</a:t>
            </a:r>
            <a:endParaRPr lang="en-US" sz="1250" dirty="0"/>
          </a:p>
        </p:txBody>
      </p:sp>
      <p:sp>
        <p:nvSpPr>
          <p:cNvPr id="21" name="Text 13"/>
          <p:cNvSpPr/>
          <p:nvPr/>
        </p:nvSpPr>
        <p:spPr>
          <a:xfrm>
            <a:off x="661475" y="5650309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Baseline correction: </a:t>
            </a:r>
            <a:r>
              <a:rPr lang="en-US" sz="1250" i="1" dirty="0">
                <a:solidFill>
                  <a:srgbClr val="151617"/>
                </a:solidFill>
                <a:highlight>
                  <a:srgbClr val="E6D5E6"/>
                </a:highlight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                </a:t>
            </a:r>
            <a:endParaRPr lang="en-US" sz="12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48151" y="5667673"/>
            <a:ext cx="2328903" cy="21540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11909FE-BD4B-F058-E41A-B67E210E27D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57494" y="6305385"/>
            <a:ext cx="1934506" cy="4836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6205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Finding Saccade Onset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936849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Six-Step Detection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309118"/>
            <a:ext cx="340213" cy="340221"/>
          </a:xfrm>
          <a:prstGeom prst="roundRect">
            <a:avLst>
              <a:gd name="adj" fmla="val 2240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27"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8127" y="2337445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122632" y="2361009"/>
            <a:ext cx="478877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Select 4 highest-variance channels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1475" y="2891234"/>
            <a:ext cx="340213" cy="340221"/>
          </a:xfrm>
          <a:prstGeom prst="roundRect">
            <a:avLst>
              <a:gd name="adj" fmla="val 2240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27"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8127" y="291956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22632" y="2943126"/>
            <a:ext cx="478877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Spatial RMS aggregation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1475" y="3473351"/>
            <a:ext cx="340213" cy="340221"/>
          </a:xfrm>
          <a:prstGeom prst="roundRect">
            <a:avLst>
              <a:gd name="adj" fmla="val 2240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27"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8127" y="3501678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122632" y="3525242"/>
            <a:ext cx="478877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3-sample causal smoothing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1475" y="4055467"/>
            <a:ext cx="340213" cy="340221"/>
          </a:xfrm>
          <a:prstGeom prst="roundRect">
            <a:avLst>
              <a:gd name="adj" fmla="val 2240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27"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8127" y="4083794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122632" y="4107359"/>
            <a:ext cx="478877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Forward derivative calculation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1475" y="4637584"/>
            <a:ext cx="340213" cy="340221"/>
          </a:xfrm>
          <a:prstGeom prst="roundRect">
            <a:avLst>
              <a:gd name="adj" fmla="val 2240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27"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8127" y="466591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5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122632" y="4689475"/>
            <a:ext cx="478877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MAD adaptive threshold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61475" y="5219700"/>
            <a:ext cx="340213" cy="340221"/>
          </a:xfrm>
          <a:prstGeom prst="roundRect">
            <a:avLst>
              <a:gd name="adj" fmla="val 2240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27"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8127" y="5248027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6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1122632" y="5271591"/>
            <a:ext cx="478877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3-sample persistence check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286640" y="1936849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MAD Threshold Formula</a:t>
            </a:r>
            <a:endParaRPr lang="en-US" sz="145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640" y="2326184"/>
            <a:ext cx="5249930" cy="259755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286640" y="2739033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Early Window Sizes at 256 Hz</a:t>
            </a:r>
            <a:endParaRPr lang="en-US" sz="14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6640" y="3111302"/>
          <a:ext cx="5249930" cy="1520786"/>
        </p:xfrm>
        <a:graphic>
          <a:graphicData uri="http://schemas.openxmlformats.org/drawingml/2006/table">
            <a:tbl>
              <a:tblPr/>
              <a:tblGrid>
                <a:gridCol w="2624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4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6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Window</a:t>
                      </a:r>
                      <a:endParaRPr lang="en-US" sz="11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Samples</a:t>
                      </a:r>
                      <a:endParaRPr lang="en-US" sz="11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20 ms</a:t>
                      </a:r>
                      <a:endParaRPr lang="en-US" sz="11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6 samples</a:t>
                      </a:r>
                      <a:endParaRPr lang="en-US" sz="11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100 ms</a:t>
                      </a:r>
                      <a:endParaRPr lang="en-US" sz="11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26 samples</a:t>
                      </a:r>
                      <a:endParaRPr lang="en-US" sz="11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6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200 ms</a:t>
                      </a:r>
                      <a:endParaRPr lang="en-US" sz="11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52 samples</a:t>
                      </a:r>
                      <a:endParaRPr lang="en-US" sz="11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6286640" y="4780855"/>
            <a:ext cx="5249930" cy="728663"/>
          </a:xfrm>
          <a:prstGeom prst="roundRect">
            <a:avLst>
              <a:gd name="adj" fmla="val 1046"/>
            </a:avLst>
          </a:prstGeom>
          <a:solidFill>
            <a:srgbClr val="E4E6E7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846" y="4959648"/>
            <a:ext cx="189007" cy="151209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778059" y="4927501"/>
            <a:ext cx="4607306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Target cue onset ≠ saccade onset — 150–250 ms neural delay separates them.</a:t>
            </a:r>
            <a:endParaRPr lang="en-US" sz="11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9C31E26-DFB3-4F20-9114-A17C3BEFD3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7494" y="6305385"/>
            <a:ext cx="1934506" cy="4836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7855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Feature Engineering: 210 Dimensions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742777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Per-Channel Features × 16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53630"/>
            <a:ext cx="5273047" cy="1139031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98732" y="2168723"/>
            <a:ext cx="198433" cy="1984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780" y="2562126"/>
            <a:ext cx="497043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Amplitude / Statistical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812780" y="2861370"/>
            <a:ext cx="497043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Voltage displacement, mean, std dev, min, max, peak-to-peak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285232"/>
            <a:ext cx="5273047" cy="1139031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98732" y="3400326"/>
            <a:ext cx="198433" cy="19843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12780" y="3793728"/>
            <a:ext cx="497043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Temporal / Derivative</a:t>
            </a:r>
            <a:endParaRPr lang="en-US" sz="1300" dirty="0"/>
          </a:p>
        </p:txBody>
      </p:sp>
      <p:sp>
        <p:nvSpPr>
          <p:cNvPr id="11" name="Text 5"/>
          <p:cNvSpPr/>
          <p:nvPr/>
        </p:nvSpPr>
        <p:spPr>
          <a:xfrm>
            <a:off x="812780" y="4092972"/>
            <a:ext cx="497043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Regression slope, mean derivative, max positive/negative derivative</a:t>
            </a:r>
            <a:endParaRPr lang="en-US" sz="10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516834"/>
            <a:ext cx="5273047" cy="1139031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98732" y="4631928"/>
            <a:ext cx="198433" cy="19843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12780" y="5025330"/>
            <a:ext cx="497043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Energy / Integral</a:t>
            </a:r>
            <a:endParaRPr lang="en-US" sz="1300" dirty="0"/>
          </a:p>
        </p:txBody>
      </p:sp>
      <p:sp>
        <p:nvSpPr>
          <p:cNvPr id="15" name="Text 7"/>
          <p:cNvSpPr/>
          <p:nvPr/>
        </p:nvSpPr>
        <p:spPr>
          <a:xfrm>
            <a:off x="812780" y="5324574"/>
            <a:ext cx="497043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Derivative energy, signal energy, area under curve</a:t>
            </a:r>
            <a:endParaRPr lang="en-US" sz="1000" dirty="0"/>
          </a:p>
        </p:txBody>
      </p:sp>
      <p:sp>
        <p:nvSpPr>
          <p:cNvPr id="16" name="Text 8"/>
          <p:cNvSpPr/>
          <p:nvPr/>
        </p:nvSpPr>
        <p:spPr>
          <a:xfrm>
            <a:off x="6263523" y="1742777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Spatial Features × 2</a:t>
            </a:r>
            <a:endParaRPr lang="en-US" sz="13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44473" y="2034580"/>
            <a:ext cx="2597680" cy="398066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433877" y="2053630"/>
            <a:ext cx="2408276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Normalized index of channel with </a:t>
            </a:r>
            <a:r>
              <a:rPr lang="en-US" sz="10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maximum voltage shift</a:t>
            </a:r>
            <a:endParaRPr lang="en-US" sz="10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38790" y="2034580"/>
            <a:ext cx="2597780" cy="398066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9128194" y="2053630"/>
            <a:ext cx="240837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Magnitude</a:t>
            </a: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of maximum shift</a:t>
            </a:r>
            <a:endParaRPr lang="en-US" sz="1000" dirty="0"/>
          </a:p>
        </p:txBody>
      </p:sp>
      <p:sp>
        <p:nvSpPr>
          <p:cNvPr id="21" name="Text 11"/>
          <p:cNvSpPr/>
          <p:nvPr/>
        </p:nvSpPr>
        <p:spPr>
          <a:xfrm>
            <a:off x="6263523" y="2517775"/>
            <a:ext cx="5273047" cy="570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550" dirty="0">
                <a:solidFill>
                  <a:srgbClr val="C8A2D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16 × 13 + 2 = 210</a:t>
            </a:r>
            <a:endParaRPr lang="en-US" sz="3550" dirty="0"/>
          </a:p>
        </p:txBody>
      </p:sp>
      <p:sp>
        <p:nvSpPr>
          <p:cNvPr id="22" name="Text 12"/>
          <p:cNvSpPr/>
          <p:nvPr/>
        </p:nvSpPr>
        <p:spPr>
          <a:xfrm>
            <a:off x="5958731" y="3180953"/>
            <a:ext cx="588263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Total feature dimensions per trial window</a:t>
            </a:r>
            <a:endParaRPr lang="en-US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E1D4EC4-2BF6-0461-E99F-B2B78510B3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57494" y="6305385"/>
            <a:ext cx="1934506" cy="4836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21395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Can Direction Be Predicted from 20 ms?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2030115"/>
            <a:ext cx="58221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8-Class Octant Accuracy vs. Window Duration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71130"/>
            <a:ext cx="4366508" cy="29982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35802" y="2030115"/>
            <a:ext cx="47006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Classification Schemes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35802" y="2371130"/>
          <a:ext cx="4700668" cy="1373154"/>
        </p:xfrm>
        <a:graphic>
          <a:graphicData uri="http://schemas.openxmlformats.org/drawingml/2006/table">
            <a:tbl>
              <a:tblPr/>
              <a:tblGrid>
                <a:gridCol w="2350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0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17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Scheme</a:t>
                      </a:r>
                      <a:endParaRPr lang="en-US" sz="11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Chance</a:t>
                      </a:r>
                      <a:endParaRPr lang="en-US" sz="11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4-class cardinal</a:t>
                      </a:r>
                      <a:endParaRPr lang="en-US" sz="11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25.0%</a:t>
                      </a:r>
                      <a:endParaRPr lang="en-US" sz="11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8-class octant</a:t>
                      </a:r>
                      <a:endParaRPr lang="en-US" sz="11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12.5%</a:t>
                      </a:r>
                      <a:endParaRPr lang="en-US" sz="11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7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36-class fine radial</a:t>
                      </a:r>
                      <a:endParaRPr lang="en-US" sz="11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2.78%</a:t>
                      </a:r>
                      <a:endParaRPr lang="en-US" sz="11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835802" y="3876576"/>
            <a:ext cx="47006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Models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835802" y="4204295"/>
            <a:ext cx="4700668" cy="434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L2-regularized logistic regression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One-vs-rest linear SVM</a:t>
            </a:r>
            <a:endParaRPr lang="en-US" sz="1100" dirty="0"/>
          </a:p>
        </p:txBody>
      </p:sp>
      <p:sp>
        <p:nvSpPr>
          <p:cNvPr id="6" name="Shape 5"/>
          <p:cNvSpPr/>
          <p:nvPr/>
        </p:nvSpPr>
        <p:spPr>
          <a:xfrm>
            <a:off x="6835802" y="4757936"/>
            <a:ext cx="4700668" cy="659011"/>
          </a:xfrm>
          <a:prstGeom prst="roundRect">
            <a:avLst>
              <a:gd name="adj" fmla="val 1156"/>
            </a:avLst>
          </a:prstGeom>
          <a:solidFill>
            <a:srgbClr val="E4E6E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7483" y="4921647"/>
            <a:ext cx="177200" cy="1416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96364" y="4889004"/>
            <a:ext cx="409842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Key Finding:</a:t>
            </a:r>
            <a:r>
              <a:rPr lang="en-US" sz="11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Directional information is present in the first 20 ms. Errors concentrate in adjacent octants.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44B2B79-4847-598D-D304-BF3087A994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7494" y="6305385"/>
            <a:ext cx="1934506" cy="4836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9604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Software Architecture &amp; Verification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250057"/>
            <a:ext cx="1086874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System Stack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1595636"/>
            <a:ext cx="5388039" cy="719435"/>
          </a:xfrm>
          <a:prstGeom prst="roundRect">
            <a:avLst>
              <a:gd name="adj" fmla="val 1059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27" dist="1651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0080" y="1734245"/>
            <a:ext cx="51108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0080" y="1996480"/>
            <a:ext cx="5110828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React + TypeScript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42082" y="1595636"/>
            <a:ext cx="5388138" cy="719435"/>
          </a:xfrm>
          <a:prstGeom prst="roundRect">
            <a:avLst>
              <a:gd name="adj" fmla="val 1059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27" dist="1651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80687" y="1734245"/>
            <a:ext cx="51109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Backend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80687" y="1996480"/>
            <a:ext cx="5110928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Python FastAPI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1475" y="2453977"/>
            <a:ext cx="1086874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Modules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1475" y="2799556"/>
            <a:ext cx="10868745" cy="604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Overview, Dataset Explorer, Signal Processing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Early Window Lab, Experiments, Data Quality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Methodology, About / Milestones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1475" y="3543102"/>
            <a:ext cx="1086874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Testing &amp; Verification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7905" y="3954760"/>
            <a:ext cx="3763571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27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61475" y="4526955"/>
            <a:ext cx="537653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pytest Tests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1475" y="4789190"/>
            <a:ext cx="53765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100% pass rate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60120" y="3954760"/>
            <a:ext cx="3763571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5.22s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153691" y="4526955"/>
            <a:ext cx="537653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Execution Time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53691" y="4789190"/>
            <a:ext cx="53765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Full test suite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1475" y="5108079"/>
            <a:ext cx="1086874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Coverage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1475" y="5453658"/>
            <a:ext cx="10868745" cy="604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API, dataset loader, feature extractor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Onset detector, preprocessor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Trial segmenter, window generator</a:t>
            </a:r>
            <a:endParaRPr lang="en-US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1693CA1-E1BA-03D5-07A3-D82F2F6EF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7494" y="6305385"/>
            <a:ext cx="1934506" cy="4836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2466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Conclusion &amp; Future Work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552635" y="1496318"/>
            <a:ext cx="5467610" cy="4519116"/>
          </a:xfrm>
          <a:prstGeom prst="roundRect">
            <a:avLst>
              <a:gd name="adj" fmla="val 169"/>
            </a:avLst>
          </a:prstGeom>
          <a:solidFill>
            <a:srgbClr val="D8BFD8"/>
          </a:solidFill>
          <a:ln/>
        </p:spPr>
      </p:sp>
      <p:sp>
        <p:nvSpPr>
          <p:cNvPr id="4" name="Text 2"/>
          <p:cNvSpPr/>
          <p:nvPr/>
        </p:nvSpPr>
        <p:spPr>
          <a:xfrm>
            <a:off x="703840" y="1617266"/>
            <a:ext cx="516519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Findings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60493" y="201786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164997" y="2041426"/>
            <a:ext cx="4704042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EOG encodes directional intent within the earliest part of a saccade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60493" y="2784128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164997" y="2807692"/>
            <a:ext cx="4704042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8-class decoding reaches </a:t>
            </a:r>
            <a:r>
              <a:rPr lang="en-US" sz="145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44.2%</a:t>
            </a: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accuracy at 20 ms window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60493" y="3550394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164997" y="3573959"/>
            <a:ext cx="4704042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Accuracy scales to </a:t>
            </a:r>
            <a:r>
              <a:rPr lang="en-US" sz="1450" b="1" dirty="0">
                <a:solidFill>
                  <a:srgbClr val="15161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82.4%</a:t>
            </a: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at 200 ms — all causally processed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286640" y="1617266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Future Directions</a:t>
            </a:r>
            <a:endParaRPr lang="en-US" sz="14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3293" y="1994148"/>
            <a:ext cx="226808" cy="22681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778059" y="1989534"/>
            <a:ext cx="475851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1D-TCN + ST-CNN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778059" y="2346722"/>
            <a:ext cx="475851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Causal dilated residuals &amp; spatial modeling</a:t>
            </a:r>
            <a:endParaRPr lang="en-US" sz="11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3293" y="2810917"/>
            <a:ext cx="226808" cy="22681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778059" y="2806303"/>
            <a:ext cx="475851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Continuous Angular Regression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778059" y="3163491"/>
            <a:ext cx="475851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0°–360° prediction</a:t>
            </a:r>
            <a:endParaRPr lang="en-US" sz="11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3293" y="3627686"/>
            <a:ext cx="226808" cy="22681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78059" y="3623072"/>
            <a:ext cx="475851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Cross-Subject Adaptation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778059" y="3980259"/>
            <a:ext cx="475851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DANN, Riemannian alignment</a:t>
            </a:r>
            <a:endParaRPr lang="en-US" sz="11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3293" y="4444454"/>
            <a:ext cx="226808" cy="22681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78059" y="4439841"/>
            <a:ext cx="475851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Wearable Configuration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778059" y="4797028"/>
            <a:ext cx="475851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4–6 channel electrode setup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286640" y="5150743"/>
            <a:ext cx="5249930" cy="728663"/>
          </a:xfrm>
          <a:prstGeom prst="roundRect">
            <a:avLst>
              <a:gd name="adj" fmla="val 1046"/>
            </a:avLst>
          </a:prstGeom>
          <a:solidFill>
            <a:srgbClr val="E4E6E7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846" y="5329535"/>
            <a:ext cx="189007" cy="15120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778059" y="5297388"/>
            <a:ext cx="4607306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Goal:</a:t>
            </a:r>
            <a:r>
              <a:rPr lang="en-US" sz="115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Reduce latency while preserving causal, real-time operation.</a:t>
            </a:r>
            <a:endParaRPr lang="en-US" sz="11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9A0B05-D58D-A571-1BEF-D77A1F9D4F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7494" y="6305385"/>
            <a:ext cx="1934506" cy="4836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609</Words>
  <Application>Microsoft Office PowerPoint</Application>
  <PresentationFormat>Widescreen</PresentationFormat>
  <Paragraphs>152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Montserrat Bold</vt:lpstr>
      <vt:lpstr>Arial</vt:lpstr>
      <vt:lpstr>Montserrat Black</vt:lpstr>
      <vt:lpstr>Inconsolata</vt:lpstr>
      <vt:lpstr>Inconsolata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Saatwik Gupta</dc:creator>
  <cp:lastModifiedBy>Saatwik Gupta</cp:lastModifiedBy>
  <cp:revision>2</cp:revision>
  <dcterms:created xsi:type="dcterms:W3CDTF">2026-09-16T09:51:37Z</dcterms:created>
  <dcterms:modified xsi:type="dcterms:W3CDTF">2026-09-16T09:52:52Z</dcterms:modified>
</cp:coreProperties>
</file>